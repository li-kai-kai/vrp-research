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ae6198ad54673" /><Relationship Type="http://schemas.openxmlformats.org/officeDocument/2006/relationships/extended-properties" Target="/docProps/app.xml" Id="R2d1f332c14974f38" /><Relationship Type="http://schemas.openxmlformats.org/officeDocument/2006/relationships/officeDocument" Target="/ppt/presentation.xml" Id="Rcc718ff32cd9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5657eecc534b65"/>
  </p:sldMasterIdLst>
  <p:notesMasterIdLst>
    <p:notesMasterId xmlns:r="http://schemas.openxmlformats.org/officeDocument/2006/relationships" r:id="R1614ad25e02f4a47"/>
  </p:notesMasterIdLst>
  <p:sldIdLst>
    <p:sldId xmlns:r="http://schemas.openxmlformats.org/officeDocument/2006/relationships" id="256" r:id="Rd77f6f29ed5348f2"/>
    <p:sldId xmlns:r="http://schemas.openxmlformats.org/officeDocument/2006/relationships" id="257" r:id="R4e37cc4e6ed041b4"/>
    <p:sldId xmlns:r="http://schemas.openxmlformats.org/officeDocument/2006/relationships" id="258" r:id="Rb2d29161873444c1"/>
    <p:sldId xmlns:r="http://schemas.openxmlformats.org/officeDocument/2006/relationships" id="259" r:id="R131fdfbc7a7e4f29"/>
    <p:sldId xmlns:r="http://schemas.openxmlformats.org/officeDocument/2006/relationships" id="260" r:id="R95c52e99a3da4249"/>
    <p:sldId xmlns:r="http://schemas.openxmlformats.org/officeDocument/2006/relationships" id="261" r:id="Rb9a5c8ab581c4805"/>
    <p:sldId xmlns:r="http://schemas.openxmlformats.org/officeDocument/2006/relationships" id="262" r:id="R0774a8c76e7e4643"/>
    <p:sldId xmlns:r="http://schemas.openxmlformats.org/officeDocument/2006/relationships" id="263" r:id="Rd4093c44acae4717"/>
    <p:sldId xmlns:r="http://schemas.openxmlformats.org/officeDocument/2006/relationships" id="264" r:id="Rf71a7d52736e46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5657eecc534b65" /><Relationship Type="http://schemas.openxmlformats.org/officeDocument/2006/relationships/theme" Target="/ppt/theme/theme1.xml" Id="Rac402c8db42f4fb7" /><Relationship Type="http://schemas.openxmlformats.org/officeDocument/2006/relationships/notesMaster" Target="/ppt/notesMasters/notesMaster1.xml" Id="R1614ad25e02f4a47" /><Relationship Type="http://schemas.openxmlformats.org/officeDocument/2006/relationships/presProps" Target="/ppt/presProps.xml" Id="R9634fd90baba428d" /><Relationship Type="http://schemas.openxmlformats.org/officeDocument/2006/relationships/viewProps" Target="/ppt/viewProps.xml" Id="Re5ac4493c4b1407d" /><Relationship Type="http://schemas.openxmlformats.org/officeDocument/2006/relationships/tableStyles" Target="/ppt/tableStyles.xml" Id="R487edb60f2af41ee" /><Relationship Type="http://schemas.openxmlformats.org/officeDocument/2006/relationships/slide" Target="/ppt/slides/slide1.xml" Id="Rd77f6f29ed5348f2" /><Relationship Type="http://schemas.openxmlformats.org/officeDocument/2006/relationships/slide" Target="/ppt/slides/slide2.xml" Id="R4e37cc4e6ed041b4" /><Relationship Type="http://schemas.openxmlformats.org/officeDocument/2006/relationships/slide" Target="/ppt/slides/slide3.xml" Id="Rb2d29161873444c1" /><Relationship Type="http://schemas.openxmlformats.org/officeDocument/2006/relationships/slide" Target="/ppt/slides/slide4.xml" Id="R131fdfbc7a7e4f29" /><Relationship Type="http://schemas.openxmlformats.org/officeDocument/2006/relationships/slide" Target="/ppt/slides/slide5.xml" Id="R95c52e99a3da4249" /><Relationship Type="http://schemas.openxmlformats.org/officeDocument/2006/relationships/slide" Target="/ppt/slides/slide6.xml" Id="Rb9a5c8ab581c4805" /><Relationship Type="http://schemas.openxmlformats.org/officeDocument/2006/relationships/slide" Target="/ppt/slides/slide7.xml" Id="R0774a8c76e7e4643" /><Relationship Type="http://schemas.openxmlformats.org/officeDocument/2006/relationships/slide" Target="/ppt/slides/slide8.xml" Id="Rd4093c44acae4717" /><Relationship Type="http://schemas.openxmlformats.org/officeDocument/2006/relationships/slide" Target="/ppt/slides/slide9.xml" Id="Rf71a7d52736e46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8949d500a245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paper-summary">
  <a:themeElements>
    <a:clrScheme name="paper-summary">
      <a:accent1>
        <a:srgbClr val="1D6B72"/>
      </a:accent1>
      <a:accent2>
        <a:srgbClr val="BF5A45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aper-summary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92d60fd3734182" /><Relationship Type="http://schemas.openxmlformats.org/officeDocument/2006/relationships/notesMaster" Target="/ppt/notesMasters/notesMaster1.xml" Id="Ra8d07342354541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ced1258884a45" /><Relationship Type="http://schemas.openxmlformats.org/officeDocument/2006/relationships/notesMaster" Target="/ppt/notesMasters/notesMaster1.xml" Id="Re2f7cccd94e449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75df17c99c470b" /><Relationship Type="http://schemas.openxmlformats.org/officeDocument/2006/relationships/notesMaster" Target="/ppt/notesMasters/notesMaster1.xml" Id="Re07a2df07bc04d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c09256a28d4806" /><Relationship Type="http://schemas.openxmlformats.org/officeDocument/2006/relationships/notesMaster" Target="/ppt/notesMasters/notesMaster1.xml" Id="R2782e8f8935e4a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48a900499d4624" /><Relationship Type="http://schemas.openxmlformats.org/officeDocument/2006/relationships/notesMaster" Target="/ppt/notesMasters/notesMaster1.xml" Id="Rad7fc10d278a44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60a003519c466c" /><Relationship Type="http://schemas.openxmlformats.org/officeDocument/2006/relationships/notesMaster" Target="/ppt/notesMasters/notesMaster1.xml" Id="R8dbd4ac6cc2a47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44871cb4654c96" /><Relationship Type="http://schemas.openxmlformats.org/officeDocument/2006/relationships/notesMaster" Target="/ppt/notesMasters/notesMaster1.xml" Id="Rd0c56af0ffbb4d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7edcc847f54e2e" /><Relationship Type="http://schemas.openxmlformats.org/officeDocument/2006/relationships/notesMaster" Target="/ppt/notesMasters/notesMaster1.xml" Id="R9b02113d311e42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2ce5f01de4ed0" /><Relationship Type="http://schemas.openxmlformats.org/officeDocument/2006/relationships/notesMaster" Target="/ppt/notesMasters/notesMaster1.xml" Id="R2b973716e0a4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封面。重点是把论文的学术表达翻译成管理层可理解的价值陈述。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摘要页对应论文摘要、引言与结论。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对应引言与第3节问题定义。强调上下层职责分离但目标耦合。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对应第4节与第5节。简化公式，仅保留管理层真正需要的逻辑。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对应第6节和结论段。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对应第7节案例与附录A。数据来源在新增末页展开，便于汇报时追溯。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本页是基于论文结论做的管理归纳，不是论文原文标题。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后续步骤综合自论文未来研究方向与实际汇报需求。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本页集中列出汶川案例的模型输入来源。引用重点是第7.1节、第7.2节、附录A表16-18和图9。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9c37c588a462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8d3dc5b3dcf4ff3" /><Relationship Type="http://schemas.openxmlformats.org/officeDocument/2006/relationships/slideLayout" Target="/ppt/slideLayouts/slideLayout2.xml" Id="R6563dd66c529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63dd66c529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d5c0d8f4764015" /><Relationship Type="http://schemas.openxmlformats.org/officeDocument/2006/relationships/notesSlide" Target="/ppt/notesSlides/notesSlide1.xml" Id="Rbf85f073ca83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70e568b695458a" /><Relationship Type="http://schemas.openxmlformats.org/officeDocument/2006/relationships/notesSlide" Target="/ppt/notesSlides/notesSlide2.xml" Id="Rce213264cc3144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3400493b4f4248" /><Relationship Type="http://schemas.openxmlformats.org/officeDocument/2006/relationships/notesSlide" Target="/ppt/notesSlides/notesSlide3.xml" Id="Rc1ece219bd3646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a47a46b5d64c3d" /><Relationship Type="http://schemas.openxmlformats.org/officeDocument/2006/relationships/notesSlide" Target="/ppt/notesSlides/notesSlide4.xml" Id="R9ffeb94ce40243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991a96a95740ac" /><Relationship Type="http://schemas.openxmlformats.org/officeDocument/2006/relationships/notesSlide" Target="/ppt/notesSlides/notesSlide5.xml" Id="R7014a154e10549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bf26e246e42b6" /><Relationship Type="http://schemas.openxmlformats.org/officeDocument/2006/relationships/notesSlide" Target="/ppt/notesSlides/notesSlide6.xml" Id="R7dce9307aed64a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228e65d559423a" /><Relationship Type="http://schemas.openxmlformats.org/officeDocument/2006/relationships/notesSlide" Target="/ppt/notesSlides/notesSlide7.xml" Id="Re8606c3618254c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cb7654c59444a8" /><Relationship Type="http://schemas.openxmlformats.org/officeDocument/2006/relationships/notesSlide" Target="/ppt/notesSlides/notesSlide8.xml" Id="R6934ff7cab24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0c484b2e384934" /><Relationship Type="http://schemas.openxmlformats.org/officeDocument/2006/relationships/notesSlide" Target="/ppt/notesSlides/notesSlide9.xml" Id="Rfca981f6269746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1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3C2782-D3ED-4D50-9622-9D4FEF9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762500" cy="476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A56"/>
          </a:solidFill>
          <a:ln xmlns:a="http://schemas.openxmlformats.org/drawingml/2006/main" w="0">
            <a:solidFill>
              <a:srgbClr val="244A5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5FBD49-E242-4FE8-BA2E-918D4561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15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A72"/>
          </a:solidFill>
          <a:ln xmlns:a="http://schemas.openxmlformats.org/drawingml/2006/main" w="0">
            <a:solidFill>
              <a:srgbClr val="2B6A7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70C7F-6764-4E2B-9D43-F6ED53D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915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7B8"/>
          </a:solidFill>
          <a:ln xmlns:a="http://schemas.openxmlformats.org/drawingml/2006/main" w="0">
            <a:solidFill>
              <a:srgbClr val="E7D7B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654030-DFB8-4BAE-A485-12B784FB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E7E3"/>
                </a:solidFill>
              </a:defRPr>
            </a:pPr>
            <a:r>
              <a:rPr sz="1650" b="1">
                <a:solidFill>
                  <a:srgbClr val="D9E7E3"/>
                </a:solidFill>
              </a:rPr>
              <a:t>论文重点提炼与汇报版演示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9D8B4-E2C7-4F8F-81E8-82651815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676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灾后多周期道路修复与救援物流优化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94AC4-C4DB-44FB-946F-FA7DEF39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6E2DF"/>
                </a:solidFill>
              </a:defRPr>
            </a:pPr>
            <a:r>
              <a:rPr sz="1350" b="0">
                <a:solidFill>
                  <a:srgbClr val="D6E2DF"/>
                </a:solidFill>
              </a:rPr>
              <a:t>基于论文《Post-disaster multi-period road network repair: work scheduling and relief logistics optimization》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0C737-3A35-41EE-BA07-6DDC0CD2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628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C9887-85B5-4599-B32E-3BE8124D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B72"/>
                </a:solidFill>
              </a:defRPr>
            </a:pPr>
            <a:r>
              <a:rPr sz="1350" b="1">
                <a:solidFill>
                  <a:srgbClr val="1D6B72"/>
                </a:solidFill>
              </a:rPr>
              <a:t>一句话结论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64C64-C9C3-487D-B5B5-DB4E4782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561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313B"/>
                </a:solidFill>
              </a:defRPr>
            </a:pPr>
            <a:r>
              <a:rPr sz="1500" b="0">
                <a:solidFill>
                  <a:srgbClr val="17313B"/>
                </a:solidFill>
              </a:rPr>
              <a:t>这篇论文证明：把“修路排班”和“救援配送”联动优化，能在灾后黄金 72 小时内更快恢复网络可达性，并支持更公平、可执行的物资投送。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8D8A3-5356-4AC5-8F42-65D55701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96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6D2"/>
                </a:solidFill>
              </a:defRPr>
            </a:pPr>
            <a:r>
              <a:rPr sz="1050" b="0">
                <a:solidFill>
                  <a:srgbClr val="C7D6D2"/>
                </a:solidFill>
              </a:rPr>
              <a:t>来源文件：s10479-018-3037-2.pdf</a:t>
            </a:r>
          </a:p>
        </p:txBody>
      </p:sp>
    </p:spTree>
    <p:extLst>
      <p:ext uri="{BB962C8B-B14F-4D97-AF65-F5344CB8AC3E}">
        <p14:creationId xmlns:p14="http://schemas.microsoft.com/office/powerpoint/2010/main" val="1845859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6AC4AD-77B1-4263-A6C3-31CF2F42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A0CB7-712A-4336-813D-F86BE676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78BC5-84F9-4751-AE18-DF656E1A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FE4AF-3EAE-4C0A-A052-C791D4CC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78671-0F0E-4839-AFC1-F87A728B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EXECUTIVE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0831E-57CD-4D54-9279-BFDE50AA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执行摘要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0F224-A5C3-43F8-853E-AAC844A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F816E-4326-477A-B8D5-6B842ED3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2B417-90B3-4401-82CF-169F6C72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590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1D8C2-2C9F-4F5E-94D1-07339FE2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1D91E-7296-4F0A-97FB-6E9B0F07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7829C-BA97-46DA-89EF-0C25B920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266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灾后物资未必短缺，但道路中断会让供给到不了需求点；单独做道路修复或单独做物流分配，都可能造成联动失效。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D3B5B-09C0-487B-BD6A-1109F901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2590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6B798-C9D9-4F3E-810B-675AFC4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FF53F-6637-4940-9FD2-BA06A5F1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BD035-C315-40CC-B37A-2434C0B9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266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论文提出多周期双层规划：上层安排维修队修复顺序以提升累计可达性，下层在该约束下做物资分配与运输路径优化。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A51C87-3B75-4F88-84D3-560EC6FB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2590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73386-91D1-4C58-AECB-8E859607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AA5394-FD88-4484-A291-DB62C288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2266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E1600-212E-438F-944E-D3022F2A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22669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作者在随机生成网络与汶川地震案例上验证模型；给出更新频率、网络拓扑差异和维修队配置的敏感性结论。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9AE98-0A04-40F3-BE7F-90992768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62100"/>
            <a:ext cx="2647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8304B-0608-4AD8-8997-F0C25EE8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62100"/>
            <a:ext cx="57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8B960E-3670-49F6-8D96-55698B5B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95450"/>
            <a:ext cx="232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E1E41B-9402-474C-AFC1-8BFE9A17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324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方法在应急响应时限内可求得可用方案，并指出 8 或 12 小时的信息更新节奏更现实，城乡网络策略也应区别设计。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F2FDC-EDC7-4BEB-8D6B-854EB84E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6DA04-EB67-432B-BD98-E8468E89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72h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83F627-3119-4076-8F00-C99D518E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研究采用灾后黄金 72 小时作为规划期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C4821A-AB7C-4235-8795-4F3B7C23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147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A71868-7030-4420-B796-AC0C1475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290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14.93%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F171F-3A92-4E4D-8FC3-770BE84E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汶川案例中，规划期内修复完成度提升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7E7232-EE5C-48B7-8964-46F35EFD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953012-4B05-4100-8DE8-3FC974CD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104.7s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21823F-8DE1-45DC-8F31-1F9CE981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汶川案例在 8 线程笔记本上的求解时间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31F49B-2994-46BE-B853-2040D7D7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1714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494FBC-D414-466F-8FC5-35AC369E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8/12h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8499C9-3C0B-4A7A-827C-A7C6F05C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论文建议的较优信息更新周期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382DFA-DEF4-46D2-8E55-8B5B23BD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FE4CA"/>
          </a:solidFill>
          <a:ln xmlns:a="http://schemas.openxmlformats.org/drawingml/2006/main" w="0">
            <a:solidFill>
              <a:srgbClr val="EFE4C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6C4372-666D-465B-B09A-1935701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433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管理含义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00DC53-FB43-4A1B-A80E-67B3BD3D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24350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先修“能快速重连供需节点”的断点，而不是平均派工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更新过快会增加计算与执行压力，过慢又会错过窗口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农村网络要提高冗余度，城市网络要增加维修队规模</a:t>
            </a:r>
          </a:p>
        </p:txBody>
      </p:sp>
    </p:spTree>
    <p:extLst>
      <p:ext uri="{BB962C8B-B14F-4D97-AF65-F5344CB8AC3E}">
        <p14:creationId xmlns:p14="http://schemas.microsoft.com/office/powerpoint/2010/main" val="1211428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90A78-ED7C-41C5-9FEC-A8A12A03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96FEC-CA7C-4BE4-9D8C-42723C36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5A046-A730-479A-B3FF-66E76A94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43728-951F-44FA-BC21-D2AF0A4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9FBB7-1EA8-4B32-BEDB-A6A1A9DA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PROBLEM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7B27-6107-44D1-8C8C-CF9EB2D3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问题为何必须联动考虑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E87CD-5713-48C1-A017-E5E2E55E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B2F7A-2ECE-49C0-84EC-A709A8F3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235092-0FE3-4231-9604-2D5FDF58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13B"/>
                </a:solidFill>
              </a:defRPr>
            </a:pPr>
            <a:r>
              <a:rPr sz="1650" b="1">
                <a:solidFill>
                  <a:srgbClr val="17313B"/>
                </a:solidFill>
              </a:rPr>
              <a:t>论文的核心判断：真正的瓶颈是“道路可达性”，不是单纯的物资总量。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D664A6-D724-4457-8AE6-A498F344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476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38677-065D-4875-BE61-BA094811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道路受损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DFEDD-CCFC-4FFD-AA30-BE31693A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2209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灾后节点/路段被阻断，旅行时间大幅增加，部分需求点暂时不可达。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8BCD4-E185-4C5B-91DA-779BE07B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05100"/>
            <a:ext cx="8191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C89F0-42AE-4EFD-8738-4DCD6E86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717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导致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7CFCF-1977-4AF1-B816-EBA0EB4E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71700"/>
            <a:ext cx="2476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6E7E0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60C00-66FD-4A70-8843-35FA2C3E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配送失灵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535DDA-BE78-471D-ABD2-4A43F31A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28900"/>
            <a:ext cx="2209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物资、车辆和路线安排即使充分，也可能因为路径不存在或代价过高而无法兑现。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F75C9-C91B-42C8-BB6E-AA35FE80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05100"/>
            <a:ext cx="8191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1B9D5-7BF8-4651-8605-9AAF1DDA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71775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倒逼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915061-8B17-44A4-AF86-78E23F2C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71700"/>
            <a:ext cx="4000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A5F2C9-5462-4F2B-89D1-8E2A92DC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050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必须做联动优化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0F2BE-3E83-4308-B8DB-4DB2CED0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3733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上层决定修哪条、何时修、由谁修；下层同步调整供给点分配与运输路径，避免“两张表各管一半”。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7E9EC-3551-43D2-AC5B-A97F2609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5334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7A503F-1144-4306-BC03-CCDD4BC0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E57BAF-3A9E-48F1-AF30-CCC2659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501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上层决策主体：应急指挥中心（ECC）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300B7-D477-494E-833E-CBD097C2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5010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目标是提升规划期内的累计网络可达性，核心动作包括受损节点分配、维修队路由和多周期修复顺序。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49668C-98A3-47BB-B416-57AA79B7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429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50E51-4C68-4FC1-824D-ED9E1B7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D1F68E-2F73-44C5-9A61-F9D4DD9F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510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下层决策主体：配送中心管理者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C7E4ED-4784-49DA-9378-C9DE9EB4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24400"/>
            <a:ext cx="5105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在给定修复策略下，追求更公平的物资满足度，同时压缩配送总耗时，并随网络状态变化周期性调整。</a:t>
            </a:r>
          </a:p>
        </p:txBody>
      </p:sp>
    </p:spTree>
    <p:extLst>
      <p:ext uri="{BB962C8B-B14F-4D97-AF65-F5344CB8AC3E}">
        <p14:creationId xmlns:p14="http://schemas.microsoft.com/office/powerpoint/2010/main" val="1542626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898C99-D2E4-47C2-B298-0A904985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B0699-2C81-48CA-A2CB-F4C6D9E4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1097-5A01-4D7C-9E91-4326C016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2BCE3-4807-484D-8705-E17D4E53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6DC1D-B246-4CB9-AC61-62975F22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MODEL AND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22F82-3707-4AAD-905E-348CBF95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模型与求解方法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D4C55-C7C5-429C-80AC-CCA442E1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378E2-979F-4BA1-BD9D-D50374C4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EFF025-3F3C-4FC9-82A8-5B3083C0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219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E28D1-4C32-4883-8D38-5E5C5B2A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上层目标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16ACB2-2032-46E2-8D06-A63704B8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按周期安排维修队与修复顺序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最大化规划期内累计可达性 Z(X,T)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优先恢复供需节点之间的连通性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03A1D-4CF4-4434-8B13-3445EBB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194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7E0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5EA84-DD4A-4674-9E9A-7D4125EF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526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下层目标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E23DD-8045-474C-89CF-B74E7301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76450"/>
            <a:ext cx="2952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最大化最小满足度（公平分配）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最小化物资送达总时间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在每个周期根据网络状态重算路径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654B0-8968-4996-AF17-3A8FA22C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E5407-C998-4FA6-A5A0-8F1BE6ED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52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求解策略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303D6-C33A-48F3-AD77-CE037D6D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76450"/>
            <a:ext cx="29718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MRSD 处理公平分配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稳态并行遗传算法 HSSPGA 处理上层复杂组合优化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适配中大规模、不同拓扑的网络实例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869EA6-C49F-4905-BBF7-B1DA65DE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62ED7-7F6D-4EA8-B494-6CE1727A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B2A8D-4C0B-48BE-AC71-5574547D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288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4DC02-B4EC-4FFE-ABDB-E79305ED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95550"/>
            <a:ext cx="53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求解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1BBF0C-7B30-4A17-8C03-D7EF7C74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110490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DFC6"/>
          </a:solidFill>
          <a:ln xmlns:a="http://schemas.openxmlformats.org/drawingml/2006/main" w="0">
            <a:solidFill>
              <a:srgbClr val="EADFC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E967D-82F9-479F-9902-017A8541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13B"/>
                </a:solidFill>
              </a:defRPr>
            </a:pPr>
            <a:r>
              <a:rPr sz="1500" b="1">
                <a:solidFill>
                  <a:srgbClr val="17313B"/>
                </a:solidFill>
              </a:rPr>
              <a:t>关键建模元素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1460F-1A68-40E8-84BB-756DF0AA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0382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规划期固定为 72 小时；每个周期长度由 η 决定，代表信息互换/更新节奏。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累计可达性同时考虑救援物流与普通交通流，并用权重 ρ 调整二者相对重要性。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作者将问题建模为多周期双层规划，指出其本质上是 NP-hard，难以用精确算法快速求解。</a:t>
            </a:r>
          </a:p>
        </p:txBody>
      </p:sp>
    </p:spTree>
    <p:extLst>
      <p:ext uri="{BB962C8B-B14F-4D97-AF65-F5344CB8AC3E}">
        <p14:creationId xmlns:p14="http://schemas.microsoft.com/office/powerpoint/2010/main" val="18415870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EACA6F-2884-46C3-A2DF-757191A0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3779A-CBA6-4021-B74F-6B3E4C74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DDA36-C48E-4CCD-83AD-99422577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12673-685A-4066-BEC3-26ACE9CB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0C22B-9C82-4762-82EC-75F636EA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EVIDENCE FROM COMPUTATIONAL TESTS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17D72-E21E-443A-B52A-B270771B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证据一：数值实验与敏感性分析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C453A-A589-4BFB-9FE0-5516C598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5E7B5-4ABE-4710-B850-4A905A30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020BF-09F1-4F7A-B1D5-31E84FF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0219D-7430-414D-8F79-C487E06C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4 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F5B7F-DE3D-4975-AC21-BFF0029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从小到超大规模的实例集合 S1-S4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C2FDC-B429-46FF-BDF6-C5F91BEB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62100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B1913-F3C2-4683-8565-A246DB54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76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180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6773B-12B4-4784-A4C1-11030E91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每组组合实例数量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521AC-0E46-4B40-8663-F7C0B3A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62100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A2DB1-CB4D-4EFD-A27B-26E25058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76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3 / 4 / 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EF391-F318-4D4A-8151-BDC149E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574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γ 表示稀疏、混合、城市型网络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6507A-F54C-4F80-A83C-A7AF271F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562100"/>
            <a:ext cx="1905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0F406E-1E08-4FDD-8AB8-ADD43B3F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7640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5%-50%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95DA60-55D8-4C9A-966D-25B46F8D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574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ϑ 表示网络受损比例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CF11F-088D-4D29-8E21-28477C8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743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55F1E-D262-4E29-A61A-8642E6D6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764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F5A45"/>
                </a:solidFill>
              </a:defRPr>
            </a:pPr>
            <a:r>
              <a:rPr sz="2100" b="1">
                <a:solidFill>
                  <a:srgbClr val="BF5A45"/>
                </a:solidFill>
              </a:rPr>
              <a:t>4 / 8 / 12 / 24h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CBF82A-9290-466F-B2AB-FF30A63D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57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66D"/>
                </a:solidFill>
              </a:defRPr>
            </a:pPr>
            <a:r>
              <a:rPr sz="1050" b="0">
                <a:solidFill>
                  <a:srgbClr val="53666D"/>
                </a:solidFill>
              </a:rPr>
              <a:t>η 表示信息更新周期设定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1EE03B-0CE4-4FDC-80C1-398B5725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E26D16-94FC-4261-9674-87540EFA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74EEAF-610A-41FC-9917-48229A14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发现 1：更新频率最敏感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508E9-B418-496A-A891-21DE6EEB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3105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η 越小，意味着更频繁地更新修复与配送策略，通常能获得更细致的响应，但计算时间显著上升。论文指出 η 的影响大于受损比例 ϑ。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01041-2FD9-4049-9E33-F07A1406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ACD6A-234F-4B44-BA41-E818132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4D9CF4-6D5A-45E8-85A8-E3E662ED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发现 2：网络类型决定策略差异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F2F50-0B38-4CD0-ACDC-B159B3A93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31051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农村网络更稀疏、替代路径更少，因此被修复的受损节点比例通常低于城市与混合网络；冗余度是关键短板。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ECCB4A-517E-4798-879E-A253FEBA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619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6D9237-E4C0-4948-91B3-F3290A9B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7C66E-CB38-40FA-BFA3-A16E8EDD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766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发现 3：可执行建议已经出现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22EF2-BDB2-4F09-ABA0-F517438B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329565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作者综合实验后建议：信息更新以每天 2-3 次更现实，即 8 小时或 12 小时；城市区域则应增配道路维修队伍。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9CE415-AA06-4BDE-9BED-9A6CD06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819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6B72"/>
                </a:solidFill>
              </a:defRPr>
            </a:pPr>
            <a:r>
              <a:rPr sz="1350" b="1">
                <a:solidFill>
                  <a:srgbClr val="1D6B72"/>
                </a:solidFill>
              </a:rPr>
              <a:t>论文的价值不只在“能解”，还在于给出了应急响应中的参数选择建议。</a:t>
            </a:r>
          </a:p>
        </p:txBody>
      </p:sp>
    </p:spTree>
    <p:extLst>
      <p:ext uri="{BB962C8B-B14F-4D97-AF65-F5344CB8AC3E}">
        <p14:creationId xmlns:p14="http://schemas.microsoft.com/office/powerpoint/2010/main" val="1989886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383DA-D904-4239-9DD1-E7795B05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E658B-18B2-4C25-9D92-1BB06D46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7A500-21DA-43DA-918D-E0427825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3B35A-EDF0-4EAA-9F64-3D5CE2ED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90B01-F776-45EC-9940-432E22FE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WENCHUAN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F5815-25F5-48EA-A54B-2FE04E2A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证据二：汶川地震案例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EC5A5-5CCA-4C51-A75B-983071D6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EC5BE-5061-43B2-8786-04C2718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DBC0A-41EF-4444-A5F6-88E07F18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6850"/>
            <a:ext cx="4762500" cy="436245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7F0E1"/>
          </a:solidFill>
          <a:ln xmlns:a="http://schemas.openxmlformats.org/drawingml/2006/main" w="9525">
            <a:solidFill>
              <a:srgbClr val="D2C3A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87EF6-7B86-455E-9323-07357459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</a:defRPr>
            </a:pPr>
            <a:r>
              <a:rPr sz="1575" b="1">
                <a:solidFill>
                  <a:srgbClr val="17313B"/>
                </a:solidFill>
              </a:rPr>
              <a:t>案例输入规模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6CF1B3-7328-4AE6-B138-2F34D650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3 个维修工作站/供给节点：都江堰、彭州、什邡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35 个需求节点，16 个受损路段节点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车辆分为 4 类，容量从 5 吨到 20 吨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维修队能力统一，按 0.5 km/h 估算修复时长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数据来自统计年鉴、交通部门和遥感/航拍信息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A19F4-F97A-45EF-B441-B6CA4C26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</a:defRPr>
            </a:pPr>
            <a:r>
              <a:rPr sz="1575" b="1">
                <a:solidFill>
                  <a:srgbClr val="17313B"/>
                </a:solidFill>
              </a:rPr>
              <a:t>案例结果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754AF-62B3-4C3D-AFCF-56F7A6C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095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按 η = 8 小时求解，8 线程笔记本运行约 104.7 秒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生成每个周期的维修队路由、物资分配和运输路径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规划期结束前，受损道路修复完成度提升 14.93%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论文展示的配送路径表明，可达需求点会随周期逐步扩展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6BF71-463B-4268-9589-DCC54FA4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6850"/>
            <a:ext cx="5905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CFB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1EA2C-22A4-4016-9C23-AC9FB0BC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764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</a:defRPr>
            </a:pPr>
            <a:r>
              <a:rPr sz="1575" b="1">
                <a:solidFill>
                  <a:srgbClr val="17313B"/>
                </a:solidFill>
              </a:rPr>
              <a:t>按周期展开的管理画面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2261C-FC8F-4D26-8C8C-567E274F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95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09936-82EF-4F5C-BBC5-2187D476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288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周期 1-2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BABEA-D36E-4781-AB44-17BB3E6D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527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部分路径仍不可达，系统先确定优先修复点。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000AD-800E-4F3A-A0C1-C069617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6E7E0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95971-61B1-4E39-8A8E-4C31282E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周期 3-5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0337A-C5D2-4ACD-82A6-49901A69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节点 1→8 等路径开始恢复，可达区域扩大。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E066A-5F4F-4109-AE45-AC89EF2F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9C457-0544-4970-B7BC-C306ACFF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288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周期 6-9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FE5DA-3171-46CD-BA54-D637D371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527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更多远端节点被接入，配送路径明显缩短。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8EAADD-8528-4B3F-AA51-90C48EF8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5905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DE1C8"/>
          </a:solidFill>
          <a:ln xmlns:a="http://schemas.openxmlformats.org/drawingml/2006/main" w="0">
            <a:solidFill>
              <a:srgbClr val="EDE1C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57426-5CD5-479A-9308-E2DB71B6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433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</a:defRPr>
            </a:pPr>
            <a:r>
              <a:rPr sz="1575" b="1">
                <a:solidFill>
                  <a:srgbClr val="17313B"/>
                </a:solidFill>
              </a:rPr>
              <a:t>为什么这个案例重要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81C6FF-FB34-439C-815F-3604D53F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62450"/>
            <a:ext cx="52197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它不是只给出一个“最优值”，而是输出可执行的日程表、路由和供给方案。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它表明该方法能在实际灾后决策窗口内完成计算，而不是只能离线研究。</a:t>
            </a:r>
          </a:p>
          <a:p xmlns:a="http://schemas.openxmlformats.org/drawingml/2006/main">
            <a:pPr algn="l">
              <a:defRPr sz="1200" b="0">
                <a:solidFill>
                  <a:srgbClr val="53666D"/>
                </a:solidFill>
              </a:defRPr>
            </a:pPr>
            <a:r>
              <a:rPr sz="1200" b="0">
                <a:solidFill>
                  <a:srgbClr val="53666D"/>
                </a:solidFill>
              </a:rPr>
              <a:t>• 它把道路修复优先级与物流通路恢复直接关联起来，方便指挥中心解释为什么要先修某些断点。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53C431-C326-4970-9ADD-EF55103B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0"/>
            <a:ext cx="581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66D"/>
                </a:solidFill>
              </a:defRPr>
            </a:pPr>
            <a:r>
              <a:rPr sz="900" b="0">
                <a:solidFill>
                  <a:srgbClr val="53666D"/>
                </a:solidFill>
              </a:rPr>
              <a:t>引用：Li &amp; Teo (2019), Section 7.1-7.2, Fig. 9, Tables 13-18；详见末页“数据来源与引用”。</a:t>
            </a:r>
          </a:p>
        </p:txBody>
      </p:sp>
    </p:spTree>
    <p:extLst>
      <p:ext uri="{BB962C8B-B14F-4D97-AF65-F5344CB8AC3E}">
        <p14:creationId xmlns:p14="http://schemas.microsoft.com/office/powerpoint/2010/main" val="1985690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E1382D-FFDD-4D33-8FCD-8AC1AFB5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B01E2-DBD1-430F-9BB4-4F343F41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2B6DE-346C-4F29-B941-7B5FEDF6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51FE8-1B5F-4666-9F32-0F0F6114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0D4E4-0960-4B06-AB2C-3AFB0740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21DEC-41D1-40C4-80F8-C472FDA8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从论文提炼出的决策建议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453BE5-58A0-4256-8CEB-96C98FC9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1B939-6CAE-4FC9-8802-9CF9EB8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9DF93-0F24-43AA-BCDE-DC6B4C48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02516-B40F-4E82-88A0-10081E60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1F9EB-6AEC-4A62-99B2-971C730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决策 1：修复顺序要围绕“重连价值”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AF338-02C6-4CF2-BFFE-3331006B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3105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优先修复能让供给节点与高需求节点重新连通的关键断点，而不是平均地给每条损坏道路分配资源。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C6739-2B8B-4383-B415-9F4D087B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3429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70E5EB-D9F1-49D0-A94C-3954C654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430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242E6-DBBC-4975-BC4B-B7F218B7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决策 2：把更新周期当成管理参数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A23300-8EA2-4562-9693-591BA68A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81200"/>
            <a:ext cx="3105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8 小时或 12 小时一轮的信息更新更现实，可在响应敏捷性与计算/执行成本之间取得平衡。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15BED-3A78-4A9E-A682-FCF2FB27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3619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BB6A2-042A-42FC-92D5-A36789E8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0CD3D-21EB-4084-BDAA-A685A069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3295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决策 3：城乡网络要差异化配置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B12ECA-20BD-4CF1-BC57-8ECF6E3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295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农村更需要网络冗余与替代路径，城市更需要增加维修队规模以处理高密度受损路段。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E7755-D0A1-4F5D-B40B-8E9F63E5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62350"/>
            <a:ext cx="1104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0E1"/>
          </a:solidFill>
          <a:ln xmlns:a="http://schemas.openxmlformats.org/drawingml/2006/main" w="9525">
            <a:solidFill>
              <a:srgbClr val="D2C3A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CB10BD-070C-419F-BFB7-B675956C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</a:defRPr>
            </a:pPr>
            <a:r>
              <a:rPr sz="1575" b="1">
                <a:solidFill>
                  <a:srgbClr val="17313B"/>
                </a:solidFill>
              </a:rPr>
              <a:t>建议转译成指挥动作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4F948-7F46-4053-B390-F9D33608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03251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66D"/>
                </a:solidFill>
              </a:defRPr>
            </a:pPr>
            <a:r>
              <a:rPr sz="1275" b="0">
                <a:solidFill>
                  <a:srgbClr val="53666D"/>
                </a:solidFill>
              </a:rPr>
              <a:t>• 建立“受损点重连收益”清单：每个断点对应可恢复的需求节点、预计时间和替代路径变化。</a:t>
            </a:r>
          </a:p>
          <a:p xmlns:a="http://schemas.openxmlformats.org/drawingml/2006/main">
            <a:pPr algn="l">
              <a:defRPr sz="1275" b="0">
                <a:solidFill>
                  <a:srgbClr val="53666D"/>
                </a:solidFill>
              </a:defRPr>
            </a:pPr>
            <a:r>
              <a:rPr sz="1275" b="0">
                <a:solidFill>
                  <a:srgbClr val="53666D"/>
                </a:solidFill>
              </a:rPr>
              <a:t>• 在应急指挥系统中预设 8h/12h 两档重规划节奏，避免临时讨论更新频率。</a:t>
            </a:r>
          </a:p>
          <a:p xmlns:a="http://schemas.openxmlformats.org/drawingml/2006/main">
            <a:pPr algn="l">
              <a:defRPr sz="1275" b="0">
                <a:solidFill>
                  <a:srgbClr val="53666D"/>
                </a:solidFill>
              </a:defRPr>
            </a:pPr>
            <a:r>
              <a:rPr sz="1275" b="0">
                <a:solidFill>
                  <a:srgbClr val="53666D"/>
                </a:solidFill>
              </a:rPr>
              <a:t>• 对城市灾区预留额外道路抢修队；对山区/乡村灾区优先补齐脆弱单通道。</a:t>
            </a:r>
          </a:p>
          <a:p xmlns:a="http://schemas.openxmlformats.org/drawingml/2006/main">
            <a:pPr algn="l">
              <a:defRPr sz="1275" b="0">
                <a:solidFill>
                  <a:srgbClr val="53666D"/>
                </a:solidFill>
              </a:defRPr>
            </a:pPr>
            <a:r>
              <a:rPr sz="1275" b="0">
                <a:solidFill>
                  <a:srgbClr val="53666D"/>
                </a:solidFill>
              </a:rPr>
              <a:t>• 让配送中心与修复调度共用一套网络状态数据，而不是各自维护独立台账。</a:t>
            </a:r>
          </a:p>
        </p:txBody>
      </p:sp>
    </p:spTree>
    <p:extLst>
      <p:ext uri="{BB962C8B-B14F-4D97-AF65-F5344CB8AC3E}">
        <p14:creationId xmlns:p14="http://schemas.microsoft.com/office/powerpoint/2010/main" val="1475945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D605A7-7D14-4C97-BD09-4ADDAC96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0405D-E0E7-4370-A6F0-EED756AE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6F2B1E-0AA1-4926-952D-82EABE33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E4F3A-D392-4F35-A5F4-6AD3118C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EDCE0-24F8-44B4-B73D-E13A631F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NEXT STEPS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98A7C-8D59-413A-81A8-2E355B32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后续步骤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BF285-E5E0-46B6-97FA-B174BA48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561CB-C0B5-4638-97F4-43403BA8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B9961-41AF-4F45-B097-EBDEC322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29874-30AC-4EBB-A58E-738B17FF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短期可落地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503431-7E8F-4718-9C27-EAF24CA6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209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把现有道路、仓库、需求点数据整理成统一图网络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定义优先级：生命救援、基本保障、常规恢复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先做一次历史灾害场景回放验证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9847D-9840-4533-BC0C-9931A8A5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640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6E7E0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A011E-FC79-4B6F-B4E4-D887B136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中期可增强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A8836-1AC8-41BC-B7A8-D9055EF4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2209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纳入撤离疏散与多组织协同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允许多个维修队并行处理同一受损点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把直升机等多运输方式纳入模型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61F12-4706-4A7B-8D52-4AA24EA9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8F2E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FC8D5-35DF-428E-839F-0871230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研究层面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87C92-B86E-49EA-93D9-59147977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2209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与其他启发式算法做性能对比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考虑更强的不确定性与实时信息更新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评估公平性与效率之间的权衡机制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BF10D-A0CF-4F65-BB52-992CEB4E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676400"/>
            <a:ext cx="24765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DF5F4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E2BEE-C88E-427E-B834-A233FC32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2209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13B"/>
                </a:solidFill>
              </a:defRPr>
            </a:pPr>
            <a:r>
              <a:rPr sz="1350" b="1">
                <a:solidFill>
                  <a:srgbClr val="17313B"/>
                </a:solidFill>
              </a:rPr>
              <a:t>交付物建议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5F897-B5DC-4020-8384-5B6C93AA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33600"/>
            <a:ext cx="2209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形成灾后 72 小时标准化修复-配送联动模板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固定更新节奏、角色分工和指挥看板</a:t>
            </a:r>
          </a:p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• 建立面向不同地区类型的预案参数库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0C901-B530-4C40-A92D-B24061C5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9600"/>
            <a:ext cx="11049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DFC6"/>
          </a:solidFill>
          <a:ln xmlns:a="http://schemas.openxmlformats.org/drawingml/2006/main" w="0">
            <a:solidFill>
              <a:srgbClr val="EADFC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4EF83-14A4-4E5F-B637-79E639EE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13B"/>
                </a:solidFill>
              </a:defRPr>
            </a:pPr>
            <a:r>
              <a:rPr sz="1500" b="1">
                <a:solidFill>
                  <a:srgbClr val="17313B"/>
                </a:solidFill>
              </a:rPr>
              <a:t>收尾信息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A0B701-6BE1-401B-A784-CDF119C5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009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66D"/>
                </a:solidFill>
              </a:defRPr>
            </a:pPr>
            <a:r>
              <a:rPr sz="1275" b="0">
                <a:solidFill>
                  <a:srgbClr val="53666D"/>
                </a:solidFill>
              </a:rPr>
              <a:t>这份演示文稿基于原始 PDF 内容提炼，保留论文结论的同时，改写为更适合汇报、讨论和决策会使用的表达方式。</a:t>
            </a:r>
          </a:p>
        </p:txBody>
      </p:sp>
    </p:spTree>
    <p:extLst>
      <p:ext uri="{BB962C8B-B14F-4D97-AF65-F5344CB8AC3E}">
        <p14:creationId xmlns:p14="http://schemas.microsoft.com/office/powerpoint/2010/main" val="11218820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E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E5B56-2D4C-40F5-8A27-C2A6D9B2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3B"/>
          </a:solidFill>
          <a:ln xmlns:a="http://schemas.openxmlformats.org/drawingml/2006/main" w="0">
            <a:solidFill>
              <a:srgbClr val="17313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605ED-ADF4-4D83-BBBB-6F0E24C1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C95"/>
          </a:solidFill>
          <a:ln xmlns:a="http://schemas.openxmlformats.org/drawingml/2006/main" w="0">
            <a:solidFill>
              <a:srgbClr val="2D8C9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BF6C7-19C7-40F0-98BB-E0F35AB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1143000"/>
            <a:ext cx="342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8DDC1"/>
          </a:solidFill>
          <a:ln xmlns:a="http://schemas.openxmlformats.org/drawingml/2006/main" w="0">
            <a:solidFill>
              <a:srgbClr val="E8DDC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33F65-197D-4232-B4FE-5052CB75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1950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EFDF"/>
          </a:solidFill>
          <a:ln xmlns:a="http://schemas.openxmlformats.org/drawingml/2006/main" w="0">
            <a:solidFill>
              <a:srgbClr val="F6EFD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AF1FF-A82C-4FA5-B49C-5A9DC947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DED9"/>
                </a:solidFill>
              </a:defRPr>
            </a:pPr>
            <a:r>
              <a:rPr sz="1200" b="1">
                <a:solidFill>
                  <a:srgbClr val="C5DED9"/>
                </a:solidFill>
              </a:rPr>
              <a:t>DATA 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CDA9B-850F-4199-BE91-759EB1CF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13B"/>
                </a:solidFill>
              </a:defRPr>
            </a:pPr>
            <a:r>
              <a:rPr sz="2250" b="1">
                <a:solidFill>
                  <a:srgbClr val="17313B"/>
                </a:solidFill>
              </a:rPr>
              <a:t>汶川案例：数据来源与引用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5FFB1-05BD-4D46-A092-9C298A89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6B72"/>
                </a:solidFill>
              </a:defRPr>
            </a:pPr>
            <a:r>
              <a:rPr sz="1650" b="1">
                <a:solidFill>
                  <a:srgbClr val="1D6B72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983DF-083A-4F3E-AD6A-5745A029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3A5"/>
          </a:solidFill>
          <a:ln xmlns:a="http://schemas.openxmlformats.org/drawingml/2006/main" w="0">
            <a:solidFill>
              <a:srgbClr val="D2C3A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FDC75-5DFA-4AE6-9BCE-965DFBC1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1028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13B"/>
                </a:solidFill>
              </a:defRPr>
            </a:pPr>
            <a:r>
              <a:rPr sz="1575" b="1">
                <a:solidFill>
                  <a:srgbClr val="17313B"/>
                </a:solidFill>
              </a:rPr>
              <a:t>论文案例输入来自实地行政数据、公开地理信息、遥感/航拍估计与作者设定的规划参数。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8A950-947E-4B54-AECB-0DF08EF2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B61F7-9936-4603-B624-529F0D04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8C39C-E709-40DC-859A-B2538174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节点、供给与需求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67C47-A448-413E-858D-20AE8405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供给/维修工作站为都江堰、彭州、什邡；35 个需求节点及供需量列于附录 A 表 16。需求量由《四川统计年鉴 2008》人口数据与房屋倒塌比例估算，房屋倒塌比例可由卫星、红外和航拍技术预测。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639DD-2329-4D1A-9079-04449413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39BE2-E274-4BFA-B5ED-8F456FD6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00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00A9E-9204-4148-8904-BF93F0A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336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道路连通与通行时间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D90D3-FAF7-4BEB-B50A-2701B527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节点间连接关系和路段通行时间列于附录 A 表 16；论文说明各道路/链路的通行时间可由 Google Earth 获得。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84FAC-4CD0-4584-8608-AFC731C7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8A1E0-9D13-4FB6-A5B7-57D49BFA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97CBF3-A733-4C63-AE4C-A6182B3F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受损路段与修复时间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F7FD63-1C02-42CA-B7DB-2684B4CC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3840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16 个受损节点及对应道路 ID、相邻节点、通行时间和修复时间列于附录 A 表 17。修复时间由红外或航拍识别的受损道路长度除以维修队能力估算。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74C63-97A7-4C1E-855B-614C85DE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9DB53-3365-4060-8569-E7394B0E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C68B5-016A-4E92-850F-FBCD6D1C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维修能力假设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E811A-9ACF-4510-84B2-A07436F1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论文假设各维修队能力相同，均为 0.5 km/h；第 7.1 节说明案例选取三处维修工作站节点，并在附录 A 解释受损道路修复时间的计算逻辑。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D116A9-79EB-4D92-A108-EF28CA2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2B34B-755B-4869-98DF-85AA03E6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B72"/>
          </a:solidFill>
          <a:ln xmlns:a="http://schemas.openxmlformats.org/drawingml/2006/main" w="0">
            <a:solidFill>
              <a:srgbClr val="1D6B7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C1FFC-7A4E-4C12-B51F-8272F625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车辆资源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ECCCD3-4CDC-4E04-A112-6CE359BF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7195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车辆类型、容量、数量和占用 OD 流量列于附录 A 表 18；车辆数量与占用 OD 数据来自四川省交通运输厅公路局。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9831B9-9A69-4F25-B5E0-A3B0672D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3429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1430">
            <a:solidFill>
              <a:srgbClr val="D2C3A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8E0AE0-3694-4A3F-A174-280BA19A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A45"/>
          </a:solidFill>
          <a:ln xmlns:a="http://schemas.openxmlformats.org/drawingml/2006/main" w="0">
            <a:solidFill>
              <a:srgbClr val="BF5A4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762D9C-4E40-4A2A-B324-C8642AAE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67150"/>
            <a:ext cx="3105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13B"/>
                </a:solidFill>
              </a:defRPr>
            </a:pPr>
            <a:r>
              <a:rPr sz="1425" b="1">
                <a:solidFill>
                  <a:srgbClr val="17313B"/>
                </a:solidFill>
              </a:rPr>
              <a:t>规划与实验参数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9B826F-B97B-4695-B8CE-989D5C1F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71950"/>
            <a:ext cx="3105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66D"/>
                </a:solidFill>
              </a:defRPr>
            </a:pPr>
            <a:r>
              <a:rPr sz="1125" b="0">
                <a:solidFill>
                  <a:srgbClr val="53666D"/>
                </a:solidFill>
              </a:rPr>
              <a:t>论文采用灾后黄金 72 小时为规划期；汶川案例设置 η = 8 小时，并报告在 8 线程笔记本上运行 104.7 秒。案例结果见第 7.2 节及表 13-15。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3F53A5-3029-45E4-8CD2-D6642B9A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05450"/>
            <a:ext cx="1104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DFC6"/>
          </a:solidFill>
          <a:ln xmlns:a="http://schemas.openxmlformats.org/drawingml/2006/main" w="0">
            <a:solidFill>
              <a:srgbClr val="EADFC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4F10CA-6318-4405-B1AE-E27962A0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59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313B"/>
                </a:solidFill>
              </a:defRPr>
            </a:pPr>
            <a:r>
              <a:rPr sz="975" b="0">
                <a:solidFill>
                  <a:srgbClr val="17313B"/>
                </a:solidFill>
              </a:rPr>
              <a:t>主引用：Li, S. &amp; Teo, K. L. (2019). Post-disaster multi-period road network repair: work scheduling and relief logistics optimization. Annals of Operations Research, 283, 1345-1385. DOI: 10.1007/s10479-018-3037-2.</a:t>
            </a:r>
          </a:p>
        </p:txBody>
      </p:sp>
    </p:spTree>
    <p:extLst>
      <p:ext uri="{BB962C8B-B14F-4D97-AF65-F5344CB8AC3E}">
        <p14:creationId xmlns:p14="http://schemas.microsoft.com/office/powerpoint/2010/main" val="507195925"/>
      </p:ext>
    </p:extLst>
  </p:cSld>
</p:sld>
</file>

<file path=ppt/theme/theme1.xml><?xml version="1.0" encoding="utf-8"?>
<a:theme xmlns:a="http://schemas.openxmlformats.org/drawingml/2006/main" name="paper-summary">
  <a:themeElements>
    <a:clrScheme name="paper-summary">
      <a:accent1>
        <a:srgbClr val="1D6B72"/>
      </a:accent1>
      <a:accent2>
        <a:srgbClr val="BF5A45"/>
      </a:accent2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aper-summary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2026-04-24T05:35:09.4360000Z</dcterms:created>
  <dcterms:modified xsi:type="dcterms:W3CDTF">2026-04-24T05:35:09.4360000Z</dcterms:modified>
</coreProperties>
</file>